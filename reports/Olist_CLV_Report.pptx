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Olist Customer Segmentation &amp; CLV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Machine Learning to Marketing ROI Experiment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9 raw tables → 95K customers consolidated</a:t>
            </a:r>
          </a:p>
          <a:p>
            <a:pPr>
              <a:defRPr sz="1800"/>
            </a:pPr>
            <a:r>
              <a:t>• RFM + behavioral + payment + review + time features</a:t>
            </a:r>
          </a:p>
          <a:p>
            <a:pPr>
              <a:defRPr sz="1800"/>
            </a:pPr>
            <a:r>
              <a:t>• 10 engineered variables used in ML-CLV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(KMeans, K=3)</a:t>
            </a:r>
          </a:p>
        </p:txBody>
      </p:sp>
      <p:pic>
        <p:nvPicPr>
          <p:cNvPr id="3" name="Picture 2" descr="seg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CLV Model Performance</a:t>
            </a:r>
          </a:p>
        </p:txBody>
      </p:sp>
      <p:pic>
        <p:nvPicPr>
          <p:cNvPr id="3" name="Picture 2" descr="clv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CLV Distribution &amp; Value Structure</a:t>
            </a:r>
          </a:p>
        </p:txBody>
      </p:sp>
      <p:pic>
        <p:nvPicPr>
          <p:cNvPr id="3" name="Picture 2" descr="clv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× CLV Tier Matrix</a:t>
            </a:r>
          </a:p>
        </p:txBody>
      </p:sp>
      <p:pic>
        <p:nvPicPr>
          <p:cNvPr id="3" name="Picture 2" descr="segment_clv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Strategy &amp;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Top 5%: Loyalty &amp; Retention → Membership, Free Shipping, Early Access</a:t>
            </a:r>
          </a:p>
          <a:p>
            <a:pPr>
              <a:defRPr sz="1800"/>
            </a:pPr>
            <a:r>
              <a:t>• Top 20%: Repurchase Promotion → Tiered Discounts, Add-on Coupons</a:t>
            </a:r>
          </a:p>
          <a:p>
            <a:pPr>
              <a:defRPr sz="1800"/>
            </a:pPr>
            <a:r>
              <a:t>• Mid 50%: Activation → Cart Reminders, Small Coupons</a:t>
            </a:r>
          </a:p>
          <a:p>
            <a:pPr>
              <a:defRPr sz="1800"/>
            </a:pPr>
            <a:r>
              <a:t>• Bottom 50%: Light Reach → EDM or App Notification</a:t>
            </a:r>
          </a:p>
          <a:p>
            <a:pPr>
              <a:defRPr sz="1800"/>
            </a:pPr>
            <a:r>
              <a:t>• Budget Allocation: 70% on top 25% high-value customers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Uplift Experiment Design</a:t>
            </a:r>
          </a:p>
        </p:txBody>
      </p:sp>
      <p:pic>
        <p:nvPicPr>
          <p:cNvPr id="3" name="Picture 2" descr="uplift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Uplift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Qini AUC &gt; 0 → Model can rank uplift correctly</a:t>
            </a:r>
          </a:p>
          <a:p>
            <a:pPr>
              <a:defRPr sz="1800"/>
            </a:pPr>
            <a:r>
              <a:t>• Incremental Profit &gt; 0 → Strategy yields positive ROI</a:t>
            </a:r>
          </a:p>
          <a:p>
            <a:pPr>
              <a:defRPr sz="1800"/>
            </a:pPr>
            <a:r>
              <a:t>• Treatment/Control balanced per stratum → statistically valid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ML-CLV model effectively predicts customer value</a:t>
            </a:r>
          </a:p>
          <a:p>
            <a:pPr>
              <a:defRPr sz="1800"/>
            </a:pPr>
            <a:r>
              <a:t>✅ Segment × CLV enables precise marketing actions</a:t>
            </a:r>
          </a:p>
          <a:p>
            <a:pPr>
              <a:defRPr sz="1800"/>
            </a:pPr>
            <a:r>
              <a:t>✅ Uplift experiment proves incremental profit</a:t>
            </a:r>
          </a:p>
          <a:p>
            <a:pPr>
              <a:defRPr sz="1800"/>
            </a:pPr>
            <a:r>
              <a:t>Next steps:</a:t>
            </a:r>
          </a:p>
          <a:p>
            <a:pPr>
              <a:defRPr sz="1800"/>
            </a:pPr>
            <a:r>
              <a:t>• Automate weekly scoring &amp; experiment design</a:t>
            </a:r>
          </a:p>
          <a:p>
            <a:pPr>
              <a:defRPr sz="1800"/>
            </a:pPr>
            <a:r>
              <a:t>• Integrate with CRM APIs for real-time campaign orchestration</a:t>
            </a:r>
          </a:p>
          <a:p>
            <a:pPr>
              <a:defRPr sz="1800"/>
            </a:pPr>
            <a:r>
              <a:t>• Retrain quarterly &amp; monitor PSI drift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